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这是同盛祥西安泡馍老店的年轻化营销方案汇报。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门店经营三十年，客群平均年龄四十五岁以上，年轻人觉得油腻、觉得老气。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但营销预算只有五百元，我们不可能投广告、不可能大装修。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本方案的核心答案是：找大学生来当学徒，包一顿泡馍、开一张实习证明，让他们去夜市摆地摊，替老字号在小红书和大众点评上发声。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下面从现状、创意、执行、预算四个层面展开。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先看品牌现状。同盛祥在西安做了三十年泡馍，出品稳定，但问题也很明显。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第一，客群平均年龄在四十五岁以上，年轻人本来就不常来。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第二，年轻人对老泡馍的印象是油腻、是土，在小红书上几乎搜不到年轻人自发推荐。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第三，也是最现实的约束——营销预算只有五百元。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这意味着我们不能买流量、不能做门店大改，必须用最轻、最巧的方式，直接打到年轻人手机里。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这就是本方案要解的题。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这就是方案的核心创意：不花钱雇人，而是用同盛祥最不缺的东西去换。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同盛祥能给的，是一顿成本几块钱的泡馍，和一张企业盖章的实习证明。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大学生想要的，正是这两样——实习证明是他们毕业、评优、找工作的硬通货。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于是三方就闭环了：品牌方得到一群自带流量、会拍会写的年轻人；大学生得到实践经历和实习证明；顾客得到夜市上一碗触手可及的热乎泡馍。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五百元预算只用来搭场地和备食材，人力这一块我们一分钱工资都不用出。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为什么选大学生？因为这件事的本质是各取所需。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第一，实习证明是大学生的硬刚需，毕业、评优、找工作都用得上，企业盖章比几十块补贴更有号召力。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第二，同盛祥包一顿饭的成本极低，一碗泡馍食材成本也就五六块钱。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第三，这一代大学生本身就是小红书和大众点评的重度用户，会拍会写，知道同龄人想看什么。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第四，他们傍晚没课就能出摊，夜市本来就是他们的主场，热情和传播半径都远超普通兼职。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所以这件事不叫雇人，叫互换：我们出证明和热饭，他们出时间和内容。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地摊上不搞大而全，主打一个小份试吃，把年轻人第一次尝泡馍的门槛降到最低。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 SKU 是迷你泡馍碗，三五块钱一小碗，先尝一口。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再配上糖蒜和小份 biangbiang 面，把西安味道完整端出来。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现场设一个掰馍互动区，让顾客自己动手，这个过程天生适合拍短视频。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每个大学生写一张手写推荐卡，讲一句真话，不打硬广。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最后用打卡送冰峰汽水做钩子：拍照发小红书就能领，把线下流量往线上导。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五百元预算这么分：最大头两百元花在摊位布置上，做一块手写横幅、一块棉麻桌布、一串暖黄灯。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一个夜摊在夜市里能不能被看见，靠的就是这套视觉。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一百五十元用于试吃食材，按四场夜市备料。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一百元买小礼品，主要是打卡送的冰峰汽水和定制糖蒜小罐。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留五十元机动备用，买一次性碗具和临时耗材。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注意，整份预算里没有一分钱是工资——人力靠实习证明和包饭置换。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整个项目按四周一个循环来跑。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第一周在校内招募三到五名大学生学徒，用半天做产品培训和平台规则培训。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第二周选一个高校附近的夜市正式出摊，把备料、摆摊、收摊的流程跑顺。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第三周是内容集中产出期，每位学徒交付两篇小红书笔记和两条大众点评打卡。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第四周复盘，挑出数据最好的内容复用，把学徒日记沉淀成同盛祥的长期栏目。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一个循环跑通后，可以继续招募下一批学徒，变成持续的低成本内容生产线。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线下摆摊只是起点，真正的目标是把内容沉淀到两个年轻人必看的平台。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小红书走「学徒日记」路线，每个大学生以第一人称记录自己在老字号当学徒的真实经历，不写硬广。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大众点评走「打卡送糖蒜」路线，用一个低成本小赠品换真实带图好评。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两边合起来形成一条完整链路：夜市被吸引 → 看学徒笔记种草 → 写点评 → 再到店里吃一碗。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所有内容都围绕一个核心标签：西安深夜食堂，治愈打工人。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算一笔账：四百元花出去，预计换回什么。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四场夜市线下触达五百人次以上。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线上沉淀二十篇内容，十篇小红书、十条大众点评。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从这波内容里，预计能给店里带来三十到五十桌新客。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最长期的资产是「学徒日记」这个栏目，每学期招一批大学生，变成持续的低成本内容生产线。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但真正重要的不是这一周的营业额，而是同盛祥第一次在年轻人手机里，有了自己人替它说话。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最后收个尾。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同盛祥开了三十年，汤还是那锅汤，馍还是那个馍。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它不需要被推翻，它只需要被年轻人重新端起来一次。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五百元预算，换一批愿意帮忙说话的大学生，换一轮夜市的灯火。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这就是我们能给出的、最轻也最暖的答案：一碗泡馍，温暖两代人。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7112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沙盘设定 2 · 本地生活营销方案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1251" flipH="false" flipV="false">
            <a:off x="889029" y="1162050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3A1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889000" y="1651000"/>
            <a:ext cx="6096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6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同盛祥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6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大学生学徒地摊计划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41910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7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500 元预算，让 30 年老字号被年轻人重新认识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59690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招募大学生当学徒 · 包饭 · 开实习证明 · 夜市摆地摊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12181" b="12181"/>
          <a:stretch>
            <a:fillRect/>
          </a:stretch>
        </p:blipFill>
        <p:spPr>
          <a:xfrm rot="0" flipH="false" flipV="false">
            <a:off x="6858000" y="1905000"/>
            <a:ext cx="4572000" cy="1943100"/>
          </a:xfrm>
          <a:prstGeom prst="roundRect">
            <a:avLst>
              <a:gd name="adj" fmla="val 784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6858000" y="4191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深夜一碗泡馍，治愈城市打工人。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老味道不土，只是缺一个被年轻人端起来的理由。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品牌现状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三十年的甜蜜烦恼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41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413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老味道扎实，客群却在变老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同盛祥经营三十年，出品稳定，堂食客群平均年龄 45 岁以上。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68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3683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年轻人觉得油腻、觉得土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小红书上几乎没有年轻人主动推荐，门店形象停留在父辈记忆里。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95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4953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营销预算只有五百元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不能投流、不能大装修，必须用最轻的方式打到年轻人手机里。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0" y="2413000"/>
            <a:ext cx="3683000" cy="3556000"/>
          </a:xfrm>
          <a:prstGeom prst="roundRect">
            <a:avLst>
              <a:gd name="adj" fmla="val 0"/>
            </a:avLst>
          </a:prstGeom>
          <a:solidFill>
            <a:srgbClr val="8B3A1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0" y="2794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本次营销总预算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0" y="3302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FF5DC"/>
                </a:solidFill>
                <a:latin typeface="Noto Serif SC"/>
                <a:ea typeface="Noto Serif SC"/>
                <a:cs typeface="Noto Serif SC"/>
                <a:sym typeface="Noto Serif SC"/>
              </a:rPr>
              <a:t>¥500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26443" flipH="false" flipV="false">
            <a:off x="8636024" y="4692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0" y="4953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要在小红书与大众点评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打出「深夜食堂」热门话题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核心创意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889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一个地摊，三方都赢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143000" y="2349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8B3A1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品牌方 · 同盛祥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零现金工资，换来一支出现在年轻人聚集区的内容小队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747000" y="2349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8B3A1F"/>
                </a:solidFill>
                <a:latin typeface="Noto Sans SC"/>
                <a:ea typeface="Noto Sans SC"/>
                <a:cs typeface="Noto Sans SC"/>
                <a:sym typeface="Noto Sans SC"/>
              </a:rPr>
              <a:t>大学生 · 学徒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拿到盖了章的实习证明、一顿热饭，还有真实创业经历</a:t>
            </a:r>
          </a:p>
        </p:txBody>
      </p:sp>
      <p:cxnSp>
        <p:nvCxnSpPr>
          <p:cNvPr name="Connector 7" id="7"/>
          <p:cNvCxnSpPr/>
          <p:nvPr/>
        </p:nvCxnSpPr>
        <p:spPr>
          <a:xfrm rot="400531" flipH="false" flipV="false">
            <a:off x="2784371" y="3517902"/>
            <a:ext cx="26227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07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10366176" flipH="false" flipV="false">
            <a:off x="6784841" y="3517902"/>
            <a:ext cx="26227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07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826000" y="3619500"/>
            <a:ext cx="2540000" cy="1270000"/>
          </a:xfrm>
          <a:prstGeom prst="ellipse">
            <a:avLst/>
          </a:prstGeom>
          <a:solidFill>
            <a:srgbClr val="8B3A1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38100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5DC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大学生学徒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800">
                <a:solidFill>
                  <a:srgbClr val="FFF5DC"/>
                </a:solidFill>
                <a:latin typeface="Noto Serif SC"/>
                <a:ea typeface="Noto Serif SC"/>
                <a:cs typeface="Noto Serif SC"/>
                <a:sym typeface="Noto Serif SC"/>
              </a:rPr>
              <a:t>夜市地摊</a:t>
            </a:r>
          </a:p>
        </p:txBody>
      </p:sp>
      <p:cxnSp>
        <p:nvCxnSpPr>
          <p:cNvPr name="Connector 11" id="11"/>
          <p:cNvCxnSpPr/>
          <p:nvPr/>
        </p:nvCxnSpPr>
        <p:spPr>
          <a:xfrm rot="5285450" flipH="false" flipV="false">
            <a:off x="5905500" y="5073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07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556000" y="5270500"/>
            <a:ext cx="508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8B3A1F"/>
                </a:solidFill>
                <a:latin typeface="Noto Sans SC"/>
                <a:ea typeface="Noto Sans SC"/>
                <a:cs typeface="Noto Sans SC"/>
                <a:sym typeface="Noto Sans SC"/>
              </a:rPr>
              <a:t>年轻顾客 · 打工人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在夜市用试吃价格，遇见一家愿意蹲下来和自己说话的老泡馍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为什么是大学生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889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他们要的，我们刚好有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4765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25400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实习证明是硬刚需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毕业、评优、保研、找工作都要，一份企业盖章证明比几十块补贴更有吸引力。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24765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0" y="2540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包饭成本极低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一碗牛肉泡馍食材成本约 5–8 元，管一顿饭的现金支出远低于日薪。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2545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32000" y="43180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天然就是内容生产者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会拍、会写、会剪辑，日常就在刷小红书和大众点评，知道同龄人想看什么。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42545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47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0" y="4318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时间灵活、热情最高</a:t>
            </a: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傍晚没课就能出摊，夜市正是他们的主场，自带社交传播半径。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59690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一句话：我们出证明和饭，他们出时间和内容，互相不欠现金。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地摊摆什么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635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夜市上的小份深夜摊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4130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500">
                <a:solidFill>
                  <a:srgbClr val="8B3A1F"/>
                </a:solidFill>
                <a:latin typeface="Noto Sans SC"/>
                <a:ea typeface="Noto Sans SC"/>
                <a:cs typeface="Noto Sans SC"/>
                <a:sym typeface="Noto Sans SC"/>
              </a:rPr>
              <a:t>主打小份试吃，降低年轻人第一次尝试的门槛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111500"/>
            <a:ext cx="660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8333"/>
              </a:lnSpc>
              <a:buClr>
                <a:srgbClr val="3D2914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迷你泡馍碗</a:t>
            </a: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：3–5 元小份装，先尝一口再说</a:t>
            </a:r>
            <a:endParaRPr lang="en-US" sz="1100"/>
          </a:p>
          <a:p>
            <a:pPr algn="l" indent="-177800" marL="177800">
              <a:lnSpc>
                <a:spcPct val="158333"/>
              </a:lnSpc>
              <a:buClr>
                <a:srgbClr val="3D2914"/>
              </a:buClr>
              <a:buChar char="•"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糖蒜、小份 biangbiang 面</a:t>
            </a: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：搭配试吃，还原西安味道</a:t>
            </a:r>
          </a:p>
          <a:p>
            <a:pPr algn="l" indent="-177800" marL="177800">
              <a:lnSpc>
                <a:spcPct val="158333"/>
              </a:lnSpc>
              <a:buClr>
                <a:srgbClr val="3D2914"/>
              </a:buClr>
              <a:buChar char="•"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现场掰馍互动</a:t>
            </a: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：让顾客自己动手拍视频，自带传播</a:t>
            </a:r>
          </a:p>
          <a:p>
            <a:pPr algn="l" indent="-177800" marL="177800">
              <a:lnSpc>
                <a:spcPct val="158333"/>
              </a:lnSpc>
              <a:buClr>
                <a:srgbClr val="3D2914"/>
              </a:buClr>
              <a:buChar char="•"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大学生手写推荐卡</a:t>
            </a: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：每人一句真话，不打硬广</a:t>
            </a:r>
          </a:p>
          <a:p>
            <a:pPr algn="l" indent="-177800" marL="177800">
              <a:lnSpc>
                <a:spcPct val="158333"/>
              </a:lnSpc>
              <a:buClr>
                <a:srgbClr val="3D2914"/>
              </a:buClr>
              <a:buChar char="•"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打卡送冰峰汽水</a:t>
            </a: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：拍照发小红书即送，引导线上扩散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56" b="56"/>
          <a:stretch>
            <a:fillRect/>
          </a:stretch>
        </p:blipFill>
        <p:spPr>
          <a:xfrm rot="0" flipH="false" flipV="false">
            <a:off x="8382000" y="2286000"/>
            <a:ext cx="2794000" cy="3721100"/>
          </a:xfrm>
          <a:prstGeom prst="roundRect">
            <a:avLst>
              <a:gd name="adj" fmla="val 363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382000" y="6096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同盛祥深夜菜单 · 小份套餐 29 元起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05 · 预算分配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889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五百元怎么花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89000" y="2476500"/>
          <a:ext cx="10414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1524000"/>
                <a:gridCol w="5080000"/>
                <a:gridCol w="1016000"/>
              </a:tblGrid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5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支出项目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3A1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5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金额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3A1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5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具体用途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3A1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5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占比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3A1F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D29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摊位布置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8B3A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 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手写横幅、棉麻桌布、暖黄灯串，让摊位一眼可识别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D29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试吃食材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8B3A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150 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场夜市的小份泡馍、糖蒜、biangbiang 面原料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D29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小礼品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8B3A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 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打卡送冰峰、定制糖蒜小罐、同盛祥贴纸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D29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机动备用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8B3A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 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一次性碗具、垃圾袋、临时补货等应急耗材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D29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8B3A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 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C4A3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人力成本为零（实习证明 + 包饭置换）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D29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执行节奏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889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四周跑通一个循环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-17188" flipH="false" flipV="false">
            <a:off x="1841516" y="3676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AF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-17188" flipH="false" flipV="false">
            <a:off x="4762516" y="3676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AF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-17188" flipH="false" flipV="false">
            <a:off x="7683516" y="3676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AF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460500" y="3492500"/>
            <a:ext cx="381000" cy="381000"/>
          </a:xfrm>
          <a:prstGeom prst="ellipse">
            <a:avLst/>
          </a:prstGeom>
          <a:solidFill>
            <a:srgbClr val="8B3A1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3492500"/>
            <a:ext cx="381000" cy="381000"/>
          </a:xfrm>
          <a:prstGeom prst="ellipse">
            <a:avLst/>
          </a:prstGeom>
          <a:solidFill>
            <a:srgbClr val="8B3A1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02500" y="3492500"/>
            <a:ext cx="381000" cy="381000"/>
          </a:xfrm>
          <a:prstGeom prst="ellipse">
            <a:avLst/>
          </a:prstGeom>
          <a:solidFill>
            <a:srgbClr val="8B3A1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223500" y="3492500"/>
            <a:ext cx="381000" cy="381000"/>
          </a:xfrm>
          <a:prstGeom prst="ellipse">
            <a:avLst/>
          </a:prstGeom>
          <a:solidFill>
            <a:srgbClr val="8B3A1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2540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第 1 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4127500"/>
            <a:ext cx="177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招募与培训</a:t>
            </a: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校内招募 3–5 人，半天产品培训与平台规则培训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10000" y="2540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第 2 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0" y="4127500"/>
            <a:ext cx="177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首场摆摊</a:t>
            </a: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选一个高校附近夜市出摊，跑通备料、出摊、收摊全流程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540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第 3 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4127500"/>
            <a:ext cx="177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集中产出</a:t>
            </a: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每位学徒交付 2 篇小红书笔记、2 条大众点评打卡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0" y="2540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第 4 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52000" y="4127500"/>
            <a:ext cx="177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复盘沉淀</a:t>
            </a: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挑出爆款内容复用，把学徒日记做成长期栏目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07 · 内容种草链路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889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从夜市摊位到年轻人的手机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413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小红书 · 学徒日记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921000"/>
            <a:ext cx="482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每位学徒以「我在老字号泡馍店当学徒」为个人叙事</a:t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内容方向：掰馍日常、深夜摊实拍、和老师傅学手艺</a:t>
            </a:r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统一话题：#西安深夜食堂 #同盛祥学徒记</a:t>
            </a:r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单篇 300–500 字，配 6–9 张现场图，不写硬广</a:t>
            </a:r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目标产出：10 篇真实笔记，形成系列合集</a:t>
            </a:r>
          </a:p>
        </p:txBody>
      </p:sp>
      <p:cxnSp>
        <p:nvCxnSpPr>
          <p:cNvPr name="Connector 7" id="7"/>
          <p:cNvCxnSpPr/>
          <p:nvPr/>
        </p:nvCxnSpPr>
        <p:spPr>
          <a:xfrm rot="5383629" flipH="false" flipV="false">
            <a:off x="4762500" y="4121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477000" y="2413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大众点评 · 打卡送糖蒜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921000"/>
            <a:ext cx="482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到店顾客拍照打卡 + 写 50 字评价，送一罐糖蒜</a:t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学徒在夜市引导：想喝冰峰？写条点评就行</a:t>
            </a:r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重点更新店铺相册、新增「深夜食堂」标签</a:t>
            </a:r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回复每条评价，把老店的人情味写进回复里</a:t>
            </a:r>
          </a:p>
          <a:p>
            <a:pPr algn="l" indent="-177800" marL="177800">
              <a:lnSpc>
                <a:spcPct val="150000"/>
              </a:lnSpc>
              <a:buClr>
                <a:srgbClr val="5C4A35"/>
              </a:buClr>
              <a:buChar char="•"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目标产出：10 条带图好评，拉高新店印象分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58420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3A1F"/>
                </a:solidFill>
                <a:latin typeface="Noto Sans SC"/>
                <a:ea typeface="Noto Sans SC"/>
                <a:cs typeface="Noto Sans SC"/>
                <a:sym typeface="Noto Sans SC"/>
              </a:rPr>
              <a:t>链路：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夜市摆摊 → 学徒发小红书 → 顾客写点评 → 搜索同盛祥 → 到店吃一碗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BF5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35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7850"/>
                </a:solidFill>
                <a:latin typeface="Noto Sans SC"/>
                <a:ea typeface="Noto Sans SC"/>
                <a:cs typeface="Noto Sans SC"/>
                <a:sym typeface="Noto Sans SC"/>
              </a:rPr>
              <a:t>08 · 预期效果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1041400"/>
            <a:ext cx="889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3D2914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五百元能换回什么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92" flipH="false" flipV="false">
            <a:off x="889004" y="2000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667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500+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937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夜市线下触达人次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4 场夜市，每场百余人经过摊位</a:t>
            </a:r>
          </a:p>
        </p:txBody>
      </p:sp>
      <p:cxnSp>
        <p:nvCxnSpPr>
          <p:cNvPr name="Connector 7" id="7"/>
          <p:cNvCxnSpPr/>
          <p:nvPr/>
        </p:nvCxnSpPr>
        <p:spPr>
          <a:xfrm rot="5375445" flipH="false" flipV="false">
            <a:off x="2667000" y="3676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937000" y="2667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20 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37000" y="3937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线上内容沉淀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10 篇小红书笔记 + 10 条大众点评</a:t>
            </a:r>
          </a:p>
        </p:txBody>
      </p:sp>
      <p:cxnSp>
        <p:nvCxnSpPr>
          <p:cNvPr name="Connector 10" id="10"/>
          <p:cNvCxnSpPr/>
          <p:nvPr/>
        </p:nvCxnSpPr>
        <p:spPr>
          <a:xfrm rot="5375445" flipH="false" flipV="false">
            <a:off x="5715000" y="3676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985000" y="2667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30–50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0" y="3937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预计到店新客桌数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从线上种草转化，到店点一碗泡馍</a:t>
            </a:r>
          </a:p>
        </p:txBody>
      </p:sp>
      <p:cxnSp>
        <p:nvCxnSpPr>
          <p:cNvPr name="Connector 13" id="13"/>
          <p:cNvCxnSpPr/>
          <p:nvPr/>
        </p:nvCxnSpPr>
        <p:spPr>
          <a:xfrm rot="5378514" flipH="false" flipV="false">
            <a:off x="8509000" y="38036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9779000" y="2667000"/>
            <a:ext cx="165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3A1F"/>
                </a:solidFill>
                <a:latin typeface="Noto Serif SC"/>
                <a:ea typeface="Noto Serif SC"/>
                <a:cs typeface="Noto Serif SC"/>
                <a:sym typeface="Noto Serif SC"/>
              </a:rPr>
              <a:t>1 个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779000" y="3937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可长期复用的学徒栏目</a:t>
            </a: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D2914"/>
                </a:solidFill>
                <a:latin typeface="Noto Sans SC"/>
                <a:ea typeface="Noto Sans SC"/>
                <a:cs typeface="Noto Sans SC"/>
                <a:sym typeface="Noto Sans SC"/>
              </a:rPr>
              <a:t>每学期招一批，持续产内容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5588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5C4A35"/>
                </a:solidFill>
                <a:latin typeface="Noto Sans SC"/>
                <a:ea typeface="Noto Sans SC"/>
                <a:cs typeface="Noto Sans SC"/>
                <a:sym typeface="Noto Sans SC"/>
              </a:rPr>
              <a:t>更重要的不是这一周的营业额，而是：同盛祥第一次在年轻人手机里，有了「自己人」替它说话。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19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7188" flipH="false" flipV="false">
            <a:off x="4826016" y="2279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76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1651000" y="2667000"/>
            <a:ext cx="889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4400">
                <a:solidFill>
                  <a:srgbClr val="FBF0D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一碗泡馍，温暖两代人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4445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FBF0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500 元启动，剩下的交给年轻人和夜市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5842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BF0DC">
                    <a:alpha val="4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同盛祥 · 大学生学徒地摊计划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